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Processos</c:v>
                </c:pt>
              </c:strCache>
            </c:strRef>
          </c:tx>
          <c:spPr>
            <a:solidFill>
              <a:srgbClr val="000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F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0F3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476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476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476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B476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5D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B476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Em análise</c:v>
                  </c:pt>
                  <c:pt idx="1">
                    <c:v>Perdemos</c:v>
                  </c:pt>
                  <c:pt idx="2">
                    <c:v>Desclassificados</c:v>
                  </c:pt>
                  <c:pt idx="3">
                    <c:v>Suspensos</c:v>
                  </c:pt>
                  <c:pt idx="4">
                    <c:v>Participar</c:v>
                  </c:pt>
                  <c:pt idx="5">
                    <c:v>Ganhamos</c:v>
                  </c:pt>
                  <c:pt idx="6">
                    <c:v>Não participamos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117</c:v>
                </c:pt>
                <c:pt idx="1">
                  <c:v>20</c:v>
                </c:pt>
                <c:pt idx="2">
                  <c:v>14</c:v>
                </c:pt>
                <c:pt idx="3">
                  <c:v>11</c:v>
                </c:pt>
                <c:pt idx="4">
                  <c:v>6</c:v>
                </c:pt>
                <c:pt idx="5">
                  <c:v>5</c:v>
                </c:pt>
                <c:pt idx="6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00F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F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0:00–0:30. Abertura. Objetivo da conversa: mostrar onde a Argos está hoje com base nos contratos e nas pastas de licitação, o que está funcionando, o que ameaça o crescimento e o plano dos próximos 90 dias. Método de leitura: lições da Experiência Carbone (crescer sem depender só de você, com método, conselho de pares e parcerias).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0:30–2:00. Quem somos hoje, sem rodeio: a Argos é uma EPP de software/SaaS cuja alma é licitação. Atendemos governo e empresa privada, mantemos contrato de mão de obra em condomínio e operamos em 4 bancos. O ativo mais subestimado é a rede de três parceiros: contabilidade, consultoria em licitação e advocacia. Voltaremos a eles no slide da oferta.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2:00–3:30. A frente pública é a que escala: quatro contratos assinados somam R$ 69.237,40 (Arraial R$ 36.580,00; São Paulo R$ 11.400,00; Floreal R$ 11.257,44; Junqueirópolis R$ 9.999,96). A Aeronáutica está adjudicada em R$ 15.650,04 e em formalização. Mão de obra em condomínio tem contrato de R$ 3.999,98/mês e uma proposta bem maior pendente. A frente de sistemas privados tem ticket pequeno, mas gera atestado de capacidade técnica que alimenta as licitações.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3:30–5:00. Fonte: as pastas de LICITAÇÃO no OneDrive (Em análise 117, Perdemos 20, Desclassificado 14, Suspenso 11, Participar 6, Ganhamos 5, Não participamos 4). Taxa de vitória: 5 de 39 decididos = 12,8%. O dado que importa não é a taxa, é a fila: 117 processos em análise é a prova de que o gargalo é capacidade e priorização, não falta de oportunidade.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5:00–6:30. Valores são os das propostas arquivadas nas pastas GANHAMOS. Os três primeiros somam R$ 102.972,13. Cubatão (R$ 4.303.700,00) e TCE-AC (R$ 2.589.592,93, registro de preços) estão no valor de referência do certame: precisamos confirmar o lance final, o prazo e o quantitativo antes de tratar como receita. Aviso importante: o limite de faturamento de EPP é R$ 4,8 milhões por ano, então contratos desse tamanho exigem checagem com a contabilidade.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6:30–8:00. Esta é a lição mais barata de aplicar: uma parte relevante das perdas foi de operação (cadastro não liberado, certidão paga que não saiu a tempo). Isso se resolve com checklist e antecedência, não com preço menor. Segunda lição: o preço agressivo (25% do teto em Floreal, âncora de 52% em Guanambi) chama diligência de exequibilidade. Terceira: o balanço de dois exercícios é barreira para empresa nova. Quarta, positiva: cada contrato assinado vira atestado.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8:00–9:30. Cruzando com a Experiência Carbone: a Argos já tem método onde mais importa (a máquina de montar proposta), mas as quatro dores clássicas aparecem. Cresce sozinho, decide sozinho, faturamento oscila e a rede ainda não vende junto. A hora técnica aparece como R$ 40 na proposta PDV ATEC, R$ 50 na AH Crédito e R$ 80 na sustentação de Guanambi: sem regra única de preço, cada proposta é uma decisão nova.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9:30–11:00. Quatro riscos concretos. 1) Regime: a apresentação fala em Simples Nacional, mas os documentos internos de tributos e a precificação usam Lucro Presumido. EPP é porte, Simples é regime: são coisas diferentes e é preciso confirmar com a Confidemus qual vale, porque muda preço mínimo, retenção e declarações. 2) Preço sem regra única. 3) Dois contratos grandes podem pressionar o limite de EPP. 4) Documentos pessoais e certificados digitais soltos em pastas: risco de LGPD e de uso indevido.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11:00–12:30. A tese central: o que a Argos faz para si mesma (cadastro, habilitação, proposta, disputa, contrato, pagamento) é exatamente o que o mercado de pequenas empresas que querem vender ao governo não sabe fazer. Com Confidemus, SF Consultoria e Márcio Fernandes dentro, a oferta é de ponta a ponta. A divisão de papéis é uma sugestão. O sistema Argos Gestão 360° fecha o ciclo na medição e no recebimento.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12:30–15:00. Fechamento e decisão. Cinco ações com prazo, na ordem certa: primeiro o que é dinheiro na mesa (assinar), depois o que protege (regime tributário e regra de preço), depois o que escala (checklist, oferta ponta a ponta). Pergunta final para a plateia: qual das cinco travamos esta semana? Reservar 2 minutos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GOS_ESCURO">
    <p:bg>
      <p:bgPr>
        <a:solidFill>
          <a:srgbClr val="000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GOS_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a do logo"/>
          <p:cNvSpPr/>
          <p:nvPr/>
        </p:nvSpPr>
        <p:spPr>
          <a:xfrm>
            <a:off x="6492240" y="1005840"/>
            <a:ext cx="2194560" cy="219456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Image 0" descr="Logomarca Argos Soluçõ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09728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1430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ESTRATÉGICO · OUTUBRO DE 2026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DA ARGOS SOLUÇÕES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Licitações, contratos e o que fazer nos próximos 90 dias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dados se tornam decisão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ARGOS ATUA HOJE</a:t>
            </a:r>
            <a:endParaRPr lang="en-US" sz="2600" dirty="0"/>
          </a:p>
        </p:txBody>
      </p:sp>
      <p:sp>
        <p:nvSpPr>
          <p:cNvPr id="3" name="Badge 1"/>
          <p:cNvSpPr/>
          <p:nvPr/>
        </p:nvSpPr>
        <p:spPr>
          <a:xfrm>
            <a:off x="457200" y="12344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EPP de software e SaaS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Natal/RN, com clientes em BA, SP, RJ, PR, AC e RR</a:t>
            </a:r>
            <a:endParaRPr lang="en-US" sz="1200" dirty="0"/>
          </a:p>
        </p:txBody>
      </p:sp>
      <p:sp>
        <p:nvSpPr>
          <p:cNvPr id="7" name="Badge 2"/>
          <p:cNvSpPr/>
          <p:nvPr/>
        </p:nvSpPr>
        <p:spPr>
          <a:xfrm>
            <a:off x="457200" y="191109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8653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mercados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13969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públicos (B2G) e privados (B2B)</a:t>
            </a:r>
            <a:endParaRPr lang="en-US" sz="1200" dirty="0"/>
          </a:p>
        </p:txBody>
      </p:sp>
      <p:sp>
        <p:nvSpPr>
          <p:cNvPr id="11" name="Badge 3"/>
          <p:cNvSpPr/>
          <p:nvPr/>
        </p:nvSpPr>
        <p:spPr>
          <a:xfrm>
            <a:off x="457200" y="25877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542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alma é licitação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8163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 consultoria para vender ao governo</a:t>
            </a:r>
            <a:endParaRPr lang="en-US" sz="1200" dirty="0"/>
          </a:p>
        </p:txBody>
      </p:sp>
      <p:sp>
        <p:nvSpPr>
          <p:cNvPr id="15" name="Badge 4"/>
          <p:cNvSpPr/>
          <p:nvPr/>
        </p:nvSpPr>
        <p:spPr>
          <a:xfrm>
            <a:off x="457200" y="326440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218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Também mão de obra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4930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de terceirização em condomínio</a:t>
            </a:r>
            <a:endParaRPr lang="en-US" sz="1200" dirty="0"/>
          </a:p>
        </p:txBody>
      </p:sp>
      <p:sp>
        <p:nvSpPr>
          <p:cNvPr id="19" name="Badge 5"/>
          <p:cNvSpPr/>
          <p:nvPr/>
        </p:nvSpPr>
        <p:spPr>
          <a:xfrm>
            <a:off x="457200" y="394106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941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8953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financeira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1696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 corrente em 4 bancos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DE PARCEIROS</a:t>
            </a:r>
            <a:endParaRPr lang="en-US" sz="1200" dirty="0"/>
          </a:p>
        </p:txBody>
      </p:sp>
      <p:sp>
        <p:nvSpPr>
          <p:cNvPr id="24" name="Card parceiro 1"/>
          <p:cNvSpPr/>
          <p:nvPr/>
        </p:nvSpPr>
        <p:spPr>
          <a:xfrm>
            <a:off x="5394960" y="1554480"/>
            <a:ext cx="32918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77840" y="16824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Confidemus Contabilidade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Tributos, balanço, regime fiscal</a:t>
            </a:r>
            <a:endParaRPr lang="en-US" sz="1200" dirty="0"/>
          </a:p>
        </p:txBody>
      </p:sp>
      <p:sp>
        <p:nvSpPr>
          <p:cNvPr id="27" name="Card parceiro 2"/>
          <p:cNvSpPr/>
          <p:nvPr/>
        </p:nvSpPr>
        <p:spPr>
          <a:xfrm>
            <a:off x="5394960" y="2560320"/>
            <a:ext cx="32918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77840" y="26883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Consultoria em Licitações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577840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Editais, propostas e disputa</a:t>
            </a:r>
            <a:endParaRPr lang="en-US" sz="1200" dirty="0"/>
          </a:p>
        </p:txBody>
      </p:sp>
      <p:sp>
        <p:nvSpPr>
          <p:cNvPr id="30" name="Card parceiro 3"/>
          <p:cNvSpPr/>
          <p:nvPr/>
        </p:nvSpPr>
        <p:spPr>
          <a:xfrm>
            <a:off x="5394960" y="3566160"/>
            <a:ext cx="32918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77840" y="36941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Márcio Fernandes Advocacia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57784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Contratos, recursos e defesa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FRENTES DE RECEITA</a:t>
            </a:r>
            <a:endParaRPr lang="en-US" sz="2600" dirty="0"/>
          </a:p>
        </p:txBody>
      </p:sp>
      <p:sp>
        <p:nvSpPr>
          <p:cNvPr id="3" name="Card frente 1"/>
          <p:cNvSpPr/>
          <p:nvPr/>
        </p:nvSpPr>
        <p:spPr>
          <a:xfrm>
            <a:off x="457200" y="1188720"/>
            <a:ext cx="2651760" cy="324612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F37">
                <a:alpha val="12000"/>
              </a:srgbClr>
            </a:outerShdw>
          </a:effectLst>
        </p:spPr>
      </p:sp>
      <p:sp>
        <p:nvSpPr>
          <p:cNvPr id="4" name="Badge 1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 SaaS para governo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R$ 69,2 mil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4 contratos públicos assinados em 2026: Arraial do Cabo/RJ, São Paulo/SP, Floreal/SP e Junqueirópolis/SP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R$ 15,7 mil adjudicados à Aeronáutica (Boa Vista/RR)</a:t>
            </a:r>
            <a:endParaRPr lang="en-US" sz="1100" dirty="0"/>
          </a:p>
        </p:txBody>
      </p:sp>
      <p:sp>
        <p:nvSpPr>
          <p:cNvPr id="10" name="Card frente 2"/>
          <p:cNvSpPr/>
          <p:nvPr/>
        </p:nvSpPr>
        <p:spPr>
          <a:xfrm>
            <a:off x="3246120" y="1188720"/>
            <a:ext cx="2651760" cy="324612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F37">
                <a:alpha val="12000"/>
              </a:srgbClr>
            </a:outerShdw>
          </a:effectLst>
        </p:spPr>
      </p:sp>
      <p:sp>
        <p:nvSpPr>
          <p:cNvPr id="11" name="Badge 2"/>
          <p:cNvSpPr/>
          <p:nvPr/>
        </p:nvSpPr>
        <p:spPr>
          <a:xfrm>
            <a:off x="342900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Mão de obra em condomínio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 mil/mês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834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de manutenção no In Mare Bali; proposta de R$ 86,3 mil/mês para 16 postos emitida em 15/05/2026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Também atende o Residencial Jardins do Potengi</a:t>
            </a:r>
            <a:endParaRPr lang="en-US" sz="1100" dirty="0"/>
          </a:p>
        </p:txBody>
      </p:sp>
      <p:sp>
        <p:nvSpPr>
          <p:cNvPr id="17" name="Card frente 3"/>
          <p:cNvSpPr/>
          <p:nvPr/>
        </p:nvSpPr>
        <p:spPr>
          <a:xfrm>
            <a:off x="6035040" y="1188720"/>
            <a:ext cx="2651760" cy="324612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F37">
                <a:alpha val="12000"/>
              </a:srgbClr>
            </a:outerShdw>
          </a:effectLst>
        </p:spPr>
      </p:sp>
      <p:sp>
        <p:nvSpPr>
          <p:cNvPr id="18" name="Badge 3"/>
          <p:cNvSpPr/>
          <p:nvPr/>
        </p:nvSpPr>
        <p:spPr>
          <a:xfrm>
            <a:off x="621792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B2B e consultoria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R$ 140/mês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2834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GeoPonto IA (Betices/Sicredi), 12 meses renováveis; implantações de R$ 400 a R$ 1.500 (AH Crédito e PDV ATEC)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baixo, ótimo para atestado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FUNIL: 177 PROCESSOS MAPEADOS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vitória"/>
          <p:cNvSpPr/>
          <p:nvPr/>
        </p:nvSpPr>
        <p:spPr>
          <a:xfrm>
            <a:off x="6035040" y="118872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0" y="1280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12,8%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2011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vitória nos processos decididos (5 de 39: ganhos, perdidos e desclassificados)</a:t>
            </a:r>
            <a:endParaRPr lang="en-US" sz="1200" dirty="0"/>
          </a:p>
        </p:txBody>
      </p:sp>
      <p:sp>
        <p:nvSpPr>
          <p:cNvPr id="7" name="Card fila"/>
          <p:cNvSpPr/>
          <p:nvPr/>
        </p:nvSpPr>
        <p:spPr>
          <a:xfrm>
            <a:off x="603504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0" y="3063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3794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 em análise: uma fila que já passa da capacidade de uma pessoa só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GANHAMOS E VAMOS ASSINAR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55448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Órgão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Plataforma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da proposta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Leitura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Ibicaraí/BA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Licitanet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R$ 44.237,73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Ganho, a assinar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Mandirituba/PR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Comprasnet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R$ 25.689,60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Ganho, a assinar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São Gonçalo do Amarante/RN (SAAE)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Portal de Compras Públicas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R$ 33.044,80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Ganho, a assinar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Cubatão/SP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Comprasnet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R$ 4.303.700,00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Teto: confirmar lance, prazo e escopo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Rio Branco/AC (TCE)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Comprasnet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R$ 2.589.592,93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 de preços: sem garantia de volume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 firme"/>
          <p:cNvSpPr/>
          <p:nvPr/>
        </p:nvSpPr>
        <p:spPr>
          <a:xfrm>
            <a:off x="457200" y="3657600"/>
            <a:ext cx="40233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37307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R$ 103,0 mil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três propostas de valor definido, a assinar</a:t>
            </a:r>
            <a:endParaRPr lang="en-US" sz="1200" dirty="0"/>
          </a:p>
        </p:txBody>
      </p:sp>
      <p:sp>
        <p:nvSpPr>
          <p:cNvPr id="7" name="Card teto"/>
          <p:cNvSpPr/>
          <p:nvPr/>
        </p:nvSpPr>
        <p:spPr>
          <a:xfrm>
            <a:off x="4663440" y="3657600"/>
            <a:ext cx="4023360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37307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R$ 6,9 mi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teto nos dois grandes: não é receita garantida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AS PERDAS ENSINAM</a:t>
            </a:r>
            <a:endParaRPr lang="en-US" sz="2600" dirty="0"/>
          </a:p>
        </p:txBody>
      </p:sp>
      <p:sp>
        <p:nvSpPr>
          <p:cNvPr id="3" name="Linha lição 1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640080" y="1362456"/>
            <a:ext cx="384048" cy="38404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62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6187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Perdemos por processo, não por preço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069080" y="126187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de 20 perdas citam cadastro, certidão ou pagamento que não saiu a tempo: Indaial, Sidrolândia, Inúbia Paulista e Tanque do Piauí.</a:t>
            </a:r>
            <a:endParaRPr lang="en-US" sz="1200" dirty="0"/>
          </a:p>
        </p:txBody>
      </p:sp>
      <p:sp>
        <p:nvSpPr>
          <p:cNvPr id="8" name="Linha lição 2"/>
          <p:cNvSpPr/>
          <p:nvPr/>
        </p:nvSpPr>
        <p:spPr>
          <a:xfrm>
            <a:off x="457200" y="2029968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640080" y="2203704"/>
            <a:ext cx="384048" cy="38404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103120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muito baixo vira diligência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210312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Floreal fechou a 25% do teto (R$ 11.257,44 de R$ 44.264,04). Piracicaba e Paranavaí pediram comprovações de exequibilidade e de contratos.</a:t>
            </a:r>
            <a:endParaRPr lang="en-US" sz="1200" dirty="0"/>
          </a:p>
        </p:txBody>
      </p:sp>
      <p:sp>
        <p:nvSpPr>
          <p:cNvPr id="13" name="Linha lição 3"/>
          <p:cNvSpPr/>
          <p:nvPr/>
        </p:nvSpPr>
        <p:spPr>
          <a:xfrm>
            <a:off x="457200" y="2871216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640080" y="3044952"/>
            <a:ext cx="384048" cy="38404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944368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Balanço de 2 exercícios pesa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069080" y="294436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Barreiras/BA, o parecer técnico analisou o balanço exigido de dois exercícios, uma barreira para empresa jovem.</a:t>
            </a:r>
            <a:endParaRPr lang="en-US" sz="1200" dirty="0"/>
          </a:p>
        </p:txBody>
      </p:sp>
      <p:sp>
        <p:nvSpPr>
          <p:cNvPr id="18" name="Linha lição 4"/>
          <p:cNvSpPr/>
          <p:nvPr/>
        </p:nvSpPr>
        <p:spPr>
          <a:xfrm>
            <a:off x="457200" y="3712464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Badge 4"/>
          <p:cNvSpPr/>
          <p:nvPr/>
        </p:nvSpPr>
        <p:spPr>
          <a:xfrm>
            <a:off x="640080" y="3886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785616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viram atestados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378561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4 contratos públicos e as declarações (AOMC, Evolui, Sintramanut, BEE) já formam um acervo técnico reaproveitável.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PELO MÉTODO CARBONE</a:t>
            </a:r>
            <a:endParaRPr lang="en-US" sz="2600" dirty="0"/>
          </a:p>
        </p:txBody>
      </p:sp>
      <p:sp>
        <p:nvSpPr>
          <p:cNvPr id="3" name="Coluna já é método"/>
          <p:cNvSpPr/>
          <p:nvPr/>
        </p:nvSpPr>
        <p:spPr>
          <a:xfrm>
            <a:off x="457200" y="1188720"/>
            <a:ext cx="402336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É MÉTODO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Pasta padrão por processo: edital, habilitação, proposta, checklist e pendências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Precificação documentada com custo, tributo e ponto de equilíbrio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próprio (Argos Gestão 360°) para cobrança e contratos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parceiros que cobrem contabilidade, licitação e advocacia</a:t>
            </a:r>
            <a:endParaRPr lang="en-US" sz="1300" dirty="0"/>
          </a:p>
        </p:txBody>
      </p:sp>
      <p:sp>
        <p:nvSpPr>
          <p:cNvPr id="6" name="Coluna ainda é esforço solo"/>
          <p:cNvSpPr/>
          <p:nvPr/>
        </p:nvSpPr>
        <p:spPr>
          <a:xfrm>
            <a:off x="4663440" y="1188720"/>
            <a:ext cx="4023360" cy="3246120"/>
          </a:xfrm>
          <a:prstGeom prst="roundRect">
            <a:avLst>
              <a:gd name="adj" fmla="val 225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AINDA É ESFORÇO SOLO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3736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Cresce sozinho: 117 processos em análise e uma só pessoa decidindo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sozinho: hora técnica de R$ 40, R$ 50 e R$ 80 conforme a proposta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 imprevisível: contratos de R$ 10 a R$ 37 mil, vigência de 12 meses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sem canal: parceiros existem, mas não há indicação nem oferta conjunta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A RESOLVER ANTES DE CRESCER</a:t>
            </a:r>
            <a:endParaRPr lang="en-US" sz="2600" dirty="0"/>
          </a:p>
        </p:txBody>
      </p:sp>
      <p:sp>
        <p:nvSpPr>
          <p:cNvPr id="3" name="Card risco 1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F37">
                <a:alpha val="12000"/>
              </a:srgbClr>
            </a:outerShdw>
          </a:effectLst>
        </p:spPr>
      </p:sp>
      <p:sp>
        <p:nvSpPr>
          <p:cNvPr id="4" name="Badge 1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71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tributário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4708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Memória de Tributos e a precificação usam Lucro Presumido (16,33% sobre o faturamento). Confirmar com a Confidemus: muda preço mínimo e retenções.</a:t>
            </a:r>
            <a:endParaRPr lang="en-US" sz="1200" dirty="0"/>
          </a:p>
        </p:txBody>
      </p:sp>
      <p:sp>
        <p:nvSpPr>
          <p:cNvPr id="8" name="Card risco 2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F37">
                <a:alpha val="12000"/>
              </a:srgbClr>
            </a:outerShdw>
          </a:effectLst>
        </p:spPr>
      </p:sp>
      <p:sp>
        <p:nvSpPr>
          <p:cNvPr id="9" name="Badge 2"/>
          <p:cNvSpPr/>
          <p:nvPr/>
        </p:nvSpPr>
        <p:spPr>
          <a:xfrm>
            <a:off x="4846320" y="13716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371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sem regra única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84708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 a R$ 40, R$ 50 e R$ 80. A AH Crédito fechou em R$ 400 com alerta de prejuízo no próprio motor de preços.</a:t>
            </a:r>
            <a:endParaRPr lang="en-US" sz="1200" dirty="0"/>
          </a:p>
        </p:txBody>
      </p:sp>
      <p:sp>
        <p:nvSpPr>
          <p:cNvPr id="13" name="Card risco 3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F37">
                <a:alpha val="12000"/>
              </a:srgbClr>
            </a:outerShdw>
          </a:effectLst>
        </p:spPr>
      </p:sp>
      <p:sp>
        <p:nvSpPr>
          <p:cNvPr id="14" name="Badge 3"/>
          <p:cNvSpPr/>
          <p:nvPr/>
        </p:nvSpPr>
        <p:spPr>
          <a:xfrm>
            <a:off x="640080" y="306324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0632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Concentração e porte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53872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Cubatão e TCE-AC somam R$ 6,9 mi de teto. Checar o limite de EPP (R$ 4,8 mi/ano) e a capacidade de entrega.</a:t>
            </a:r>
            <a:endParaRPr lang="en-US" sz="1200" dirty="0"/>
          </a:p>
        </p:txBody>
      </p:sp>
      <p:sp>
        <p:nvSpPr>
          <p:cNvPr id="18" name="Card risco 4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F37">
                <a:alpha val="12000"/>
              </a:srgbClr>
            </a:outerShdw>
          </a:effectLst>
        </p:spPr>
      </p:sp>
      <p:sp>
        <p:nvSpPr>
          <p:cNvPr id="19" name="Badge 4"/>
          <p:cNvSpPr/>
          <p:nvPr/>
        </p:nvSpPr>
        <p:spPr>
          <a:xfrm>
            <a:off x="4846320" y="306324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30632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sensíveis soltos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53872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Certificados digitais, CNH e identidade de colaboradores em pastas e arquivos compactados. Mover para cofre com acesso controlado (LGPD).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OFERTA: DA DOCUMENTAÇÃO AO PAGAMENTO</a:t>
            </a:r>
            <a:endParaRPr lang="en-US" sz="2600" dirty="0"/>
          </a:p>
        </p:txBody>
      </p:sp>
      <p:sp>
        <p:nvSpPr>
          <p:cNvPr id="3" name="Etapa 1"/>
          <p:cNvSpPr/>
          <p:nvPr/>
        </p:nvSpPr>
        <p:spPr>
          <a:xfrm>
            <a:off x="457200" y="1417320"/>
            <a:ext cx="1307592" cy="1920240"/>
          </a:xfrm>
          <a:prstGeom prst="roundRect">
            <a:avLst>
              <a:gd name="adj" fmla="val 55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914400" y="15544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e habilitação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Argos + Confidemus</a:t>
            </a:r>
            <a:endParaRPr lang="en-US" sz="1100" dirty="0"/>
          </a:p>
        </p:txBody>
      </p:sp>
      <p:sp>
        <p:nvSpPr>
          <p:cNvPr id="8" name="Etapa 2"/>
          <p:cNvSpPr/>
          <p:nvPr/>
        </p:nvSpPr>
        <p:spPr>
          <a:xfrm>
            <a:off x="1837944" y="1417320"/>
            <a:ext cx="1307592" cy="1920240"/>
          </a:xfrm>
          <a:prstGeom prst="roundRect">
            <a:avLst>
              <a:gd name="adj" fmla="val 5594"/>
            </a:avLst>
          </a:prstGeom>
          <a:solidFill>
            <a:schemeClr val="accent3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2295144" y="15544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95144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929384" y="20574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do edital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929384" y="27432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Consultoria</a:t>
            </a:r>
            <a:endParaRPr lang="en-US" sz="1100" dirty="0"/>
          </a:p>
        </p:txBody>
      </p:sp>
      <p:sp>
        <p:nvSpPr>
          <p:cNvPr id="13" name="Etapa 3"/>
          <p:cNvSpPr/>
          <p:nvPr/>
        </p:nvSpPr>
        <p:spPr>
          <a:xfrm>
            <a:off x="3218688" y="1417320"/>
            <a:ext cx="1307592" cy="1920240"/>
          </a:xfrm>
          <a:prstGeom prst="roundRect">
            <a:avLst>
              <a:gd name="adj" fmla="val 55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3675888" y="15544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75888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310128" y="20574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Precificação e proposta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310128" y="27432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Argos + Confidemus</a:t>
            </a:r>
            <a:endParaRPr lang="en-US" sz="1100" dirty="0"/>
          </a:p>
        </p:txBody>
      </p:sp>
      <p:sp>
        <p:nvSpPr>
          <p:cNvPr id="18" name="Etapa 4"/>
          <p:cNvSpPr/>
          <p:nvPr/>
        </p:nvSpPr>
        <p:spPr>
          <a:xfrm>
            <a:off x="4599432" y="1417320"/>
            <a:ext cx="1307592" cy="1920240"/>
          </a:xfrm>
          <a:prstGeom prst="roundRect">
            <a:avLst>
              <a:gd name="adj" fmla="val 5594"/>
            </a:avLst>
          </a:prstGeom>
          <a:solidFill>
            <a:schemeClr val="accent3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 4"/>
          <p:cNvSpPr/>
          <p:nvPr/>
        </p:nvSpPr>
        <p:spPr>
          <a:xfrm>
            <a:off x="5056632" y="15544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56632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690872" y="20574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Disputa e recursos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690872" y="27432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+ Márcio Fernandes</a:t>
            </a:r>
            <a:endParaRPr lang="en-US" sz="1100" dirty="0"/>
          </a:p>
        </p:txBody>
      </p:sp>
      <p:sp>
        <p:nvSpPr>
          <p:cNvPr id="23" name="Etapa 5"/>
          <p:cNvSpPr/>
          <p:nvPr/>
        </p:nvSpPr>
        <p:spPr>
          <a:xfrm>
            <a:off x="5980176" y="1417320"/>
            <a:ext cx="1307592" cy="1920240"/>
          </a:xfrm>
          <a:prstGeom prst="roundRect">
            <a:avLst>
              <a:gd name="adj" fmla="val 55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 5"/>
          <p:cNvSpPr/>
          <p:nvPr/>
        </p:nvSpPr>
        <p:spPr>
          <a:xfrm>
            <a:off x="6437376" y="15544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37376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071616" y="20574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e atestados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071616" y="27432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Márcio Fernandes</a:t>
            </a:r>
            <a:endParaRPr lang="en-US" sz="1100" dirty="0"/>
          </a:p>
        </p:txBody>
      </p:sp>
      <p:sp>
        <p:nvSpPr>
          <p:cNvPr id="28" name="Etapa 6"/>
          <p:cNvSpPr/>
          <p:nvPr/>
        </p:nvSpPr>
        <p:spPr>
          <a:xfrm>
            <a:off x="7360920" y="1417320"/>
            <a:ext cx="1307592" cy="1920240"/>
          </a:xfrm>
          <a:prstGeom prst="roundRect">
            <a:avLst>
              <a:gd name="adj" fmla="val 5594"/>
            </a:avLst>
          </a:prstGeom>
          <a:solidFill>
            <a:schemeClr val="accent3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Badge 6"/>
          <p:cNvSpPr/>
          <p:nvPr/>
        </p:nvSpPr>
        <p:spPr>
          <a:xfrm>
            <a:off x="7818120" y="15544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1812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20574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Medição e pagamento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27432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Argos Gestão 360°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entra em cada etapa é sugestão de desenho, ainda a combinar com os parceiros.</a:t>
            </a:r>
            <a:endParaRPr lang="en-US" sz="1100" dirty="0"/>
          </a:p>
        </p:txBody>
      </p:sp>
      <p:sp>
        <p:nvSpPr>
          <p:cNvPr id="34" name="Faixa modelo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3886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sugerido: diagnóstico com preço fixo + pacote por etapa + parcela de êxito. A Argos já percorre esse caminho nos próprios processos.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90 DIAS</a:t>
            </a:r>
            <a:endParaRPr lang="en-US" sz="2800" dirty="0"/>
          </a:p>
        </p:txBody>
      </p:sp>
      <p:sp>
        <p:nvSpPr>
          <p:cNvPr id="3" name="Badge 1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972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1–2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09728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o regime tributário com a Confidemus e fixar hora técnica e margem mínima</a:t>
            </a:r>
            <a:endParaRPr lang="en-US" sz="1300" dirty="0"/>
          </a:p>
        </p:txBody>
      </p:sp>
      <p:sp>
        <p:nvSpPr>
          <p:cNvPr id="7" name="Badge 2"/>
          <p:cNvSpPr/>
          <p:nvPr/>
        </p:nvSpPr>
        <p:spPr>
          <a:xfrm>
            <a:off x="457200" y="1783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7373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1–15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173736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Assinar as 3 propostas ganhas (R$ 103 mil) e formalizar a Aeronáutica (R$ 15,7 mil)</a:t>
            </a:r>
            <a:endParaRPr lang="en-US" sz="1300" dirty="0"/>
          </a:p>
        </p:txBody>
      </p:sp>
      <p:sp>
        <p:nvSpPr>
          <p:cNvPr id="11" name="Badge 3"/>
          <p:cNvSpPr/>
          <p:nvPr/>
        </p:nvSpPr>
        <p:spPr>
          <a:xfrm>
            <a:off x="457200" y="2423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3774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1–30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237744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lance final, prazo e quantitativo de Cubatão e TCE-AC</a:t>
            </a:r>
            <a:endParaRPr lang="en-US" sz="1300" dirty="0"/>
          </a:p>
        </p:txBody>
      </p:sp>
      <p:sp>
        <p:nvSpPr>
          <p:cNvPr id="15" name="Badge 4"/>
          <p:cNvSpPr/>
          <p:nvPr/>
        </p:nvSpPr>
        <p:spPr>
          <a:xfrm>
            <a:off x="457200" y="3063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0175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15–45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301752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de cadastro e certidões com 7 dias de antecedência: meta de zero perdas por processo</a:t>
            </a:r>
            <a:endParaRPr lang="en-US" sz="1300" dirty="0"/>
          </a:p>
        </p:txBody>
      </p:sp>
      <p:sp>
        <p:nvSpPr>
          <p:cNvPr id="19" name="Badge 5"/>
          <p:cNvSpPr/>
          <p:nvPr/>
        </p:nvSpPr>
        <p:spPr>
          <a:xfrm>
            <a:off x="457200" y="3703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6576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30–90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560320" y="365760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Lançar a oferta ponta a ponta com 3 clientes-piloto e reduzir a fila de 117 para 20 processos prioritários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 transformar uma vitória de 12,8% em contratos recorrentes e previsíveis.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gos Solucoes">
  <a:themeElements>
    <a:clrScheme name="Argos Solucoes">
      <a:dk1>
        <a:srgbClr val="000F37"/>
      </a:dk1>
      <a:lt1>
        <a:srgbClr val="FFFFFF"/>
      </a:lt1>
      <a:dk2>
        <a:srgbClr val="3B4766"/>
      </a:dk2>
      <a:lt2>
        <a:srgbClr val="DDE2EC"/>
      </a:lt2>
      <a:accent1>
        <a:srgbClr val="FF5D00"/>
      </a:accent1>
      <a:accent2>
        <a:srgbClr val="B02500"/>
      </a:accent2>
      <a:accent3>
        <a:srgbClr val="FFE7D6"/>
      </a:accent3>
      <a:accent4>
        <a:srgbClr val="D1D2D2"/>
      </a:accent4>
      <a:accent5>
        <a:srgbClr val="6F7DA0"/>
      </a:accent5>
      <a:accent6>
        <a:srgbClr val="8A93AD"/>
      </a:accent6>
      <a:hlink>
        <a:srgbClr val="FF5D00"/>
      </a:hlink>
      <a:folHlink>
        <a:srgbClr val="B02500"/>
      </a:folHlink>
    </a:clrScheme>
    <a:fontScheme name="Argos Soluco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Diagnóstico da Argos Soluções</dc:title>
  <dc:subject>PptxGenJS Presentation</dc:subject>
  <dc:creator>Argos Soluções</dc:creator>
  <cp:lastModifiedBy>Argos Soluções</cp:lastModifiedBy>
  <cp:revision>1</cp:revision>
  <dcterms:created xsi:type="dcterms:W3CDTF">2026-10-18T17:19:51Z</dcterms:created>
  <dcterms:modified xsi:type="dcterms:W3CDTF">2026-10-18T17:19:51Z</dcterms:modified>
</cp:coreProperties>
</file>